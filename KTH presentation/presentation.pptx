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tIns="109728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Background</a:t>
            </a:r>
          </a:p>
          <a:p>
            <a:pPr>
              <a:spcBef>
                <a:spcPts val="200"/>
              </a:spcBef>
              <a:defRPr sz="900">
                <a:solidFill>
                  <a:srgbClr val="BFDBFE"/>
                </a:solidFill>
              </a:defRPr>
            </a:pPr>
            <a:r>
              <a:t>Timeline, Current Role &amp; UAV Gear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7000" y="822960"/>
            <a:ext cx="50800" cy="5852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60800" y="1285240"/>
            <a:ext cx="203200" cy="203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3944" y="998220"/>
            <a:ext cx="3328416" cy="777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</a:defRPr>
            </a:pPr>
            <a:r>
              <a:t>Aug 2014 - Jun 2018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BSc Robotics and Mechatronics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Nazarbayev University</a:t>
            </a:r>
          </a:p>
        </p:txBody>
      </p:sp>
      <p:sp>
        <p:nvSpPr>
          <p:cNvPr id="6" name="Oval 5"/>
          <p:cNvSpPr/>
          <p:nvPr/>
        </p:nvSpPr>
        <p:spPr>
          <a:xfrm>
            <a:off x="3860800" y="2230120"/>
            <a:ext cx="203200" cy="203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82440" y="1943100"/>
            <a:ext cx="3328416" cy="777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</a:defRPr>
            </a:pPr>
            <a:r>
              <a:t>Jun 2017 - May 2018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Robotics Research Assistant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ALARIS (Robotics Lab in NU)</a:t>
            </a:r>
          </a:p>
        </p:txBody>
      </p:sp>
      <p:sp>
        <p:nvSpPr>
          <p:cNvPr id="8" name="Oval 7"/>
          <p:cNvSpPr/>
          <p:nvPr/>
        </p:nvSpPr>
        <p:spPr>
          <a:xfrm>
            <a:off x="3860800" y="3175000"/>
            <a:ext cx="203200" cy="203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3944" y="2887980"/>
            <a:ext cx="3328416" cy="777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</a:defRPr>
            </a:pPr>
            <a:r>
              <a:t>Sept 2018 - Jul 2023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MSc AI and Robotics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Sapienza University of Rome</a:t>
            </a:r>
          </a:p>
        </p:txBody>
      </p:sp>
      <p:sp>
        <p:nvSpPr>
          <p:cNvPr id="10" name="Oval 9"/>
          <p:cNvSpPr/>
          <p:nvPr/>
        </p:nvSpPr>
        <p:spPr>
          <a:xfrm>
            <a:off x="3860800" y="4119880"/>
            <a:ext cx="203200" cy="203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2440" y="3832860"/>
            <a:ext cx="3328416" cy="777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</a:defRPr>
            </a:pPr>
            <a:r>
              <a:t>Nov 2020 - Jul 2021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AI and Robotics Intern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Baker Hughes R&amp;D Team</a:t>
            </a:r>
          </a:p>
        </p:txBody>
      </p:sp>
      <p:sp>
        <p:nvSpPr>
          <p:cNvPr id="12" name="Oval 11"/>
          <p:cNvSpPr/>
          <p:nvPr/>
        </p:nvSpPr>
        <p:spPr>
          <a:xfrm>
            <a:off x="3860800" y="5064760"/>
            <a:ext cx="203200" cy="203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3944" y="4777740"/>
            <a:ext cx="3328416" cy="7772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</a:defRPr>
            </a:pPr>
            <a:r>
              <a:t>Sept 2022 – Sept 2023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AI Engineer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botshelf.ai (AI Startup)</a:t>
            </a:r>
          </a:p>
        </p:txBody>
      </p:sp>
      <p:sp>
        <p:nvSpPr>
          <p:cNvPr id="14" name="Oval 13"/>
          <p:cNvSpPr/>
          <p:nvPr/>
        </p:nvSpPr>
        <p:spPr>
          <a:xfrm>
            <a:off x="3860800" y="6009640"/>
            <a:ext cx="203200" cy="20320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2440" y="5722620"/>
            <a:ext cx="3328416" cy="777240"/>
          </a:xfrm>
          <a:prstGeom prst="roundRect">
            <a:avLst/>
          </a:prstGeom>
          <a:solidFill>
            <a:srgbClr val="EFF6FF"/>
          </a:solidFill>
          <a:ln w="508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01600" bIns="101600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F59E0B"/>
                </a:solidFill>
              </a:defRPr>
            </a:pPr>
            <a:r>
              <a:t>Jan 2024 – Present</a:t>
            </a:r>
          </a:p>
          <a:p>
            <a:pPr>
              <a:spcAft>
                <a:spcPts val="100"/>
              </a:spcAft>
              <a:defRPr sz="1100" b="1">
                <a:solidFill>
                  <a:srgbClr val="1F2937"/>
                </a:solidFill>
              </a:defRPr>
            </a:pPr>
            <a:r>
              <a:t>Research Fellow</a:t>
            </a:r>
          </a:p>
          <a:p>
            <a:pPr>
              <a:defRPr sz="900" i="1">
                <a:solidFill>
                  <a:srgbClr val="4B5563"/>
                </a:solidFill>
              </a:defRPr>
            </a:pPr>
            <a:r>
              <a:t>ISTC CNR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0520" y="640080"/>
            <a:ext cx="4221480" cy="621792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6240" y="822960"/>
            <a:ext cx="403860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52400" bIns="152400" wrap="square"/>
          <a:lstStyle/>
          <a:p>
            <a:pPr algn="r">
              <a:defRPr sz="1200" b="1">
                <a:solidFill>
                  <a:srgbClr val="0F172A"/>
                </a:solidFill>
              </a:defRPr>
            </a:pPr>
            <a:r>
              <a:t>Research Fellow — ISTC CNR</a:t>
            </a:r>
          </a:p>
          <a:p>
            <a:pPr algn="r">
              <a:spcAft>
                <a:spcPts val="800"/>
              </a:spcAft>
              <a:defRPr sz="900">
                <a:solidFill>
                  <a:srgbClr val="64748B"/>
                </a:solidFill>
              </a:defRPr>
            </a:pPr>
            <a:r>
              <a:t>Jan 2024 – Present</a:t>
            </a:r>
          </a:p>
          <a:p>
            <a:pPr>
              <a:spcAft>
                <a:spcPts val="600"/>
              </a:spcAft>
              <a:defRPr sz="800">
                <a:solidFill>
                  <a:srgbClr val="475569"/>
                </a:solidFill>
              </a:defRPr>
            </a:pPr>
            <a:r>
              <a:t>Focus: autonomous robotic systems and informative path planning</a:t>
            </a:r>
            <a:br/>
            <a:r>
              <a:t>              for agricultural applications. Developing algorithms for</a:t>
            </a:r>
            <a:br/>
            <a:r>
              <a:t>              lightweight perception and field deployment.</a:t>
            </a:r>
          </a:p>
          <a:p>
            <a:pPr>
              <a:spcAft>
                <a:spcPts val="400"/>
              </a:spcAft>
              <a:defRPr sz="800" b="1">
                <a:solidFill>
                  <a:srgbClr val="334155"/>
                </a:solidFill>
              </a:defRPr>
            </a:pPr>
            <a:r>
              <a:t>RESPONSIBILITIES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Develop perception and planning for multi-UAV systems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Design experiments and manage field data collection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6240" y="3520440"/>
            <a:ext cx="4038600" cy="3200400"/>
          </a:xfrm>
          <a:prstGeom prst="roundRect">
            <a:avLst/>
          </a:prstGeom>
          <a:solidFill>
            <a:srgbClr val="FEF9E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78350F"/>
                </a:solidFill>
              </a:defRPr>
            </a:pPr>
            <a:r>
              <a:t>PhD Motivation</a:t>
            </a:r>
          </a:p>
          <a:p>
            <a:pPr>
              <a:spcAft>
                <a:spcPts val="300"/>
              </a:spcAft>
              <a:defRPr sz="750">
                <a:solidFill>
                  <a:srgbClr val="78350F"/>
                </a:solidFill>
              </a:defRPr>
            </a:pPr>
            <a:r>
              <a:rPr b="1"/>
              <a:t>Challenge: </a:t>
            </a:r>
            <a:r>
              <a:rPr b="0"/>
              <a:t>Real-world autonomy faces energy, perception, and uncertainty constraints</a:t>
            </a:r>
          </a:p>
          <a:p>
            <a:pPr>
              <a:spcAft>
                <a:spcPts val="300"/>
              </a:spcAft>
              <a:defRPr sz="750">
                <a:solidFill>
                  <a:srgbClr val="78350F"/>
                </a:solidFill>
              </a:defRPr>
            </a:pPr>
            <a:r>
              <a:rPr b="1"/>
              <a:t>Gap: </a:t>
            </a:r>
            <a:r>
              <a:rPr b="0"/>
              <a:t>Classical pipelines reach fundamental limits</a:t>
            </a:r>
          </a:p>
          <a:p>
            <a:pPr>
              <a:spcAft>
                <a:spcPts val="300"/>
              </a:spcAft>
              <a:defRPr sz="750">
                <a:solidFill>
                  <a:srgbClr val="78350F"/>
                </a:solidFill>
              </a:defRPr>
            </a:pPr>
            <a:r>
              <a:rPr b="1"/>
              <a:t>Inspiration: </a:t>
            </a:r>
            <a:r>
              <a:rPr b="0"/>
              <a:t>Biological systems (bees) achieve efficient, adaptive navigation</a:t>
            </a:r>
          </a:p>
          <a:p>
            <a:pPr>
              <a:spcAft>
                <a:spcPts val="300"/>
              </a:spcAft>
              <a:defRPr sz="750">
                <a:solidFill>
                  <a:srgbClr val="78350F"/>
                </a:solidFill>
              </a:defRPr>
            </a:pPr>
            <a:r>
              <a:rPr b="1"/>
              <a:t>Direction: </a:t>
            </a:r>
            <a:r>
              <a:rPr b="0"/>
              <a:t>Neuro-inspired and neuromorphic computation</a:t>
            </a:r>
          </a:p>
          <a:p>
            <a:pPr>
              <a:spcAft>
                <a:spcPts val="300"/>
              </a:spcAft>
              <a:defRPr sz="750">
                <a:solidFill>
                  <a:srgbClr val="78350F"/>
                </a:solidFill>
              </a:defRPr>
            </a:pPr>
            <a:r>
              <a:rPr b="1"/>
              <a:t>Goal: </a:t>
            </a:r>
            <a:r>
              <a:rPr b="0"/>
              <a:t>Principled foundations for robust, efficient autonomy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